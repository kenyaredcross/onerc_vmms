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enyaredcross/onerc_vmms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enyaredcross/onerc_core" TargetMode="External"/><Relationship Id="rId3" Type="http://schemas.openxmlformats.org/officeDocument/2006/relationships/hyperlink" Target="https://github.com/kenyaredcross/onerc_vmms" TargetMode="External"/><Relationship Id="rId4" Type="http://schemas.openxmlformats.org/officeDocument/2006/relationships/hyperlink" Target="https://github.com/kenyaredcross/onerc_sms" TargetMode="External"/><Relationship Id="rId5" Type="http://schemas.openxmlformats.org/officeDocument/2006/relationships/hyperlink" Target="https://github.com/kenyaredcross/onerc_payment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enyaredcross/onerc_vmms" TargetMode="External"/><Relationship Id="rId3" Type="http://schemas.openxmlformats.org/officeDocument/2006/relationships/hyperlink" Target="https://github.com/kenyaredcross/onerc_core" TargetMode="External"/><Relationship Id="rId4" Type="http://schemas.openxmlformats.org/officeDocument/2006/relationships/hyperlink" Target="https://github.com/kenyaredcross/onerc_sms" TargetMode="External"/><Relationship Id="rId5" Type="http://schemas.openxmlformats.org/officeDocument/2006/relationships/hyperlink" Target="https://github.com/kenyaredcross/onerc_payments" TargetMode="External"/><Relationship Id="rId6" Type="http://schemas.openxmlformats.org/officeDocument/2006/relationships/hyperlink" Target="https://frappecloud.com" TargetMode="External"/><Relationship Id="rId7" Type="http://schemas.openxmlformats.org/officeDocument/2006/relationships/hyperlink" Target="https://docs.frappe.io/cloud" TargetMode="External"/><Relationship Id="rId8" Type="http://schemas.openxmlformats.org/officeDocument/2006/relationships/hyperlink" Target="https://github.com/frappe/bench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4224528"/>
            <a:ext cx="1371600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220">
                <a:solidFill>
                  <a:srgbClr val="C8102E"/>
                </a:solidFill>
                <a:latin typeface="Segoe UI"/>
              </a:rPr>
              <a:t>INSTALLATION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12848"/>
            <a:ext cx="9692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Install VMMS on Frappe Cloud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9FAEBB"/>
                </a:solidFill>
                <a:latin typeface="Segoe UI"/>
              </a:rPr>
              <a:t>Administrator guide: from an empty account to the first volunteer registration.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2628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C6D1DA"/>
                </a:solidFill>
                <a:latin typeface="Segoe UI"/>
              </a:rPr>
              <a:t>Volunteer &amp; Member Management System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C8A97"/>
                </a:solidFill>
                <a:latin typeface="Segoe UI"/>
              </a:rPr>
              <a:t>Repository   </a:t>
            </a:r>
            <a:r>
              <a:rPr sz="1100" b="0" i="0">
                <a:solidFill>
                  <a:srgbClr val="9FAEBB"/>
                </a:solidFill>
                <a:latin typeface="Consolas"/>
                <a:hlinkClick r:id="rId2"/>
              </a:rPr>
              <a:t>github.com/kenyaredcross/onerc_vmms</a:t>
            </a:r>
            <a:r>
              <a:rPr sz="1100" b="0" i="0">
                <a:solidFill>
                  <a:srgbClr val="7C8A97"/>
                </a:solidFill>
                <a:latin typeface="Segoe UI"/>
              </a:rPr>
              <a:t>   ·   branch </a:t>
            </a:r>
            <a:r>
              <a:rPr sz="1100" b="0" i="0">
                <a:solidFill>
                  <a:srgbClr val="9FAEBB"/>
                </a:solidFill>
                <a:latin typeface="Consolas"/>
              </a:rPr>
              <a:t>vmmsx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C8A97"/>
                </a:solidFill>
                <a:latin typeface="Segoe UI"/>
              </a:rPr>
              <a:t>Typical setup time: 45 to 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Installation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Complete these six stages in order. You need administrator access to the 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79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39696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1F"/>
                </a:solidFill>
                <a:latin typeface="Segoe UI"/>
              </a:rP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157984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04C59"/>
                </a:solidFill>
                <a:latin typeface="Segoe UI"/>
              </a:rPr>
              <a:t>Confirm access, site name, email account, logo and geographic levels.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51176"/>
            <a:ext cx="10149840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52344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1F"/>
                </a:solidFill>
                <a:latin typeface="Segoe UI"/>
              </a:rPr>
              <a:t>Add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770632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04C59"/>
                </a:solidFill>
                <a:latin typeface="Segoe UI"/>
              </a:rPr>
              <a:t>Create the Frappe Cloud bench group and add each repository.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163824"/>
            <a:ext cx="10149840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36499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1F"/>
                </a:solidFill>
                <a:latin typeface="Segoe UI"/>
              </a:rPr>
              <a:t>Create 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383280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04C59"/>
                </a:solidFill>
                <a:latin typeface="Segoe UI"/>
              </a:rPr>
              <a:t>Select the required apps and wait for installation to finish.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76472"/>
            <a:ext cx="10149840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959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7764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1F"/>
                </a:solidFill>
                <a:latin typeface="Segoe UI"/>
              </a:rPr>
              <a:t>Run wizard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995928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04C59"/>
                </a:solidFill>
                <a:latin typeface="Segoe UI"/>
              </a:rPr>
              <a:t>Enter the society identity and geographic level structure.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389120"/>
            <a:ext cx="10149840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085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90288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1F"/>
                </a:solidFill>
                <a:latin typeface="Segoe UI"/>
              </a:rPr>
              <a:t>Configure geography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608576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04C59"/>
                </a:solidFill>
                <a:latin typeface="Segoe UI"/>
              </a:rPr>
              <a:t>Add places and assign coordinators to the correct scope.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001768"/>
            <a:ext cx="10149840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2122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102E"/>
                </a:solidFill>
                <a:latin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202936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81F"/>
                </a:solidFill>
                <a:latin typeface="Segoe UI"/>
              </a:rPr>
              <a:t>Test registration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221224"/>
            <a:ext cx="7132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04C59"/>
                </a:solidFill>
                <a:latin typeface="Segoe UI"/>
              </a:rPr>
              <a:t>Configure outgoing email and submit a volunteer registration.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614416"/>
            <a:ext cx="10149840" cy="7315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1 · PREPARE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Have these details ready before creating the bench group.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5852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00" b="1" i="0">
                <a:solidFill>
                  <a:srgbClr val="11181F"/>
                </a:solidFill>
                <a:latin typeface="Segoe UI"/>
              </a:rPr>
              <a:t>A place to run it.  </a:t>
            </a:r>
            <a:r>
              <a:rPr sz="1200" b="0" i="0">
                <a:solidFill>
                  <a:srgbClr val="404C59"/>
                </a:solidFill>
                <a:latin typeface="Segoe UI"/>
              </a:rPr>
              <a:t>A Frappe Cloud account with billing set up, or your own bench on Frappe v16 (Python 3.14+, MariaDB, Redis, Node 20+).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00" b="1" i="0">
                <a:solidFill>
                  <a:srgbClr val="11181F"/>
                </a:solidFill>
                <a:latin typeface="Segoe UI"/>
              </a:rPr>
              <a:t>Repository access.  </a:t>
            </a:r>
            <a:r>
              <a:rPr sz="1200" b="0" i="0">
                <a:solidFill>
                  <a:srgbClr val="404C59"/>
                </a:solidFill>
                <a:latin typeface="Segoe UI"/>
              </a:rPr>
              <a:t>The four repos below are private. On Frappe Cloud, install the Frappe Cloud GitHub app on the organisation so it can read them.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00" b="1" i="0">
                <a:solidFill>
                  <a:srgbClr val="11181F"/>
                </a:solidFill>
                <a:latin typeface="Segoe UI"/>
              </a:rPr>
              <a:t>A site address.  </a:t>
            </a:r>
            <a:r>
              <a:rPr sz="1200" b="0" i="0">
                <a:solidFill>
                  <a:srgbClr val="404C59"/>
                </a:solidFill>
                <a:latin typeface="Segoe UI"/>
              </a:rPr>
              <a:t>e.g. vmms.yoursociety.org, or a free *.frappe.cloud subdomain to start with.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00" b="1" i="0">
                <a:solidFill>
                  <a:srgbClr val="11181F"/>
                </a:solidFill>
                <a:latin typeface="Segoe UI"/>
              </a:rPr>
              <a:t>An outgoing email account.  </a:t>
            </a:r>
            <a:r>
              <a:rPr sz="1200" b="0" i="0">
                <a:solidFill>
                  <a:srgbClr val="404C59"/>
                </a:solidFill>
                <a:latin typeface="Segoe UI"/>
              </a:rPr>
              <a:t>SMTP host, port, username and password. Nobody can register until this works.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00" b="1" i="0">
                <a:solidFill>
                  <a:srgbClr val="11181F"/>
                </a:solidFill>
                <a:latin typeface="Segoe UI"/>
              </a:rPr>
              <a:t>Your society's logo.  </a:t>
            </a:r>
            <a:r>
              <a:rPr sz="1200" b="0" i="0">
                <a:solidFill>
                  <a:srgbClr val="404C59"/>
                </a:solidFill>
                <a:latin typeface="Segoe UI"/>
              </a:rPr>
              <a:t>PNG or SVG. It is asked for in the setup wizard and appears in the portal, emails and certificates.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00" b="1" i="0">
                <a:solidFill>
                  <a:srgbClr val="11181F"/>
                </a:solidFill>
                <a:latin typeface="Segoe UI"/>
              </a:rPr>
              <a:t>Your list of geographic levels.  </a:t>
            </a:r>
            <a:r>
              <a:rPr sz="1200" b="0" i="0">
                <a:solidFill>
                  <a:srgbClr val="404C59"/>
                </a:solidFill>
                <a:latin typeface="Segoe UI"/>
              </a:rPr>
              <a:t>National, Region, County, Branch, or the levels your society uses, listed top 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212848"/>
            <a:ext cx="4325112" cy="2148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86600" y="2212848"/>
            <a:ext cx="41148" cy="2148840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97496" y="2414016"/>
            <a:ext cx="3758184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YOU WILL BE ASKED FOR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1181F"/>
                </a:solidFill>
                <a:latin typeface="Segoe UI"/>
              </a:rPr>
              <a:t>Organisation name</a:t>
            </a:r>
            <a:r>
              <a:rPr sz="1100" b="0" i="0">
                <a:solidFill>
                  <a:srgbClr val="404C59"/>
                </a:solidFill>
                <a:latin typeface="Segoe UI"/>
              </a:rPr>
              <a:t>: the full legal name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1181F"/>
                </a:solidFill>
                <a:latin typeface="Segoe UI"/>
              </a:rPr>
              <a:t>Short name</a:t>
            </a:r>
            <a:r>
              <a:rPr sz="1100" b="0" i="0">
                <a:solidFill>
                  <a:srgbClr val="404C59"/>
                </a:solidFill>
                <a:latin typeface="Segoe UI"/>
              </a:rPr>
              <a:t>: the initials used on cards and messages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1181F"/>
                </a:solidFill>
                <a:latin typeface="Segoe UI"/>
              </a:rPr>
              <a:t>Country and primary language</a:t>
            </a:r>
            <a:r>
              <a:rPr sz="1100" b="0" i="0">
                <a:solidFill>
                  <a:srgbClr val="404C59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1181F"/>
                </a:solidFill>
                <a:latin typeface="Segoe UI"/>
              </a:rPr>
              <a:t>The level applications belong to</a:t>
            </a:r>
            <a:r>
              <a:rPr sz="1100" b="0" i="0">
                <a:solidFill>
                  <a:srgbClr val="404C59"/>
                </a:solidFill>
                <a:latin typeface="Segoe UI"/>
              </a:rPr>
              <a:t>: usually the lowest 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4553712"/>
            <a:ext cx="4325112" cy="13716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86600" y="4553712"/>
            <a:ext cx="41148" cy="1371600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4754880"/>
            <a:ext cx="3758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ADMINISTRATOR DETAILS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The admin password you set during site creation, and the email address you want the first administrator account under.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1 · PREPARE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Apps and installation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VMMS declares required_apps = ["onerc_core"]. ERPNext is also required by the migration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249424"/>
          <a:ext cx="10634472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4114800"/>
                <a:gridCol w="478231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APP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REPOSITORY · BRANCH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frappe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Consolas"/>
                        </a:rPr>
                        <a:t>frappe/frappe · develop (v16)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The framework. Frappe Cloud provides it.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erpnext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Consolas"/>
                        </a:rPr>
                        <a:t>frappe/erpnext · develop (v16)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Required. project_fields.py adds Custom Fields to Project on every after_migrate.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onerc_core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Consolas"/>
                        </a:rPr>
                        <a:t>kenyaredcross/onerc_core · vmmsx-edition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Required. Provides Geo Level, Geo Node, Geo Assignment and National Society Settings.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vmmsx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Consolas"/>
                        </a:rPr>
                        <a:t>kenyaredcross/onerc_vmms · vmmsx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The application itself. Install it after core.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hrms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Consolas"/>
                        </a:rPr>
                        <a:t>frappe/hrms · develop (v16)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Optional. Provides recruitment and remains dormant when absent.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onerc_sms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Consolas"/>
                        </a:rPr>
                        <a:t>kenyaredcross/onerc_sms · vmmsx-edition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Optional. Provides SMS and WhatsApp messaging.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onerc_payments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Consolas"/>
                        </a:rPr>
                        <a:t>kenyaredcross/onerc_payments · vmmsx-edition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Optional. Provides stipends and volunteer payments.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532120"/>
            <a:ext cx="10637215" cy="6858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532120"/>
            <a:ext cx="41148" cy="685800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5733288"/>
            <a:ext cx="100702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REPOSITORY AND FOLDER NAMES DIFFER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The vmmsx app lives on the vmmsx branch of the onerc_vmms repository. Bench renames the checkout folder to vmmsx.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C8102E"/>
                </a:solidFill>
                <a:latin typeface="Segoe UI"/>
              </a:rPr>
              <a:t>PART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24912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Add the apps to a 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58768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AEBB"/>
                </a:solidFill>
                <a:latin typeface="Segoe UI"/>
              </a:rPr>
              <a:t>Frappe Cloud is the supported path. The CLI steps for a self-hosted bench are on slide 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2 · ADD THE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Create a bench group on Frappe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57984"/>
            <a:ext cx="4434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1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Sign in at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frappecloud.com and open your team's dashboard.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2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Go to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Benches, then New Bench Group.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3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Name it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something recognisable, such as vmms-production.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4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Choose the Frappe version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that matches the apps: v16.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5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Choose a server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and region close to your users.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230368"/>
            <a:ext cx="4434840" cy="9601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230368"/>
            <a:ext cx="41148" cy="960120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5431536"/>
            <a:ext cx="3867911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BENCH GROUP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A bench group is the set of apps your sites run. Sites are created inside it, and every site in it shares the same app versions.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2121408"/>
            <a:ext cx="57881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6168" y="2368296"/>
            <a:ext cx="5202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Frappe Cloud → New Bench Group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The creation form with the version and region filled in.
Capture the full browser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2 · ADD THE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Add the private apps from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Frappe Cloud must have access to the private kenyaredcross repositories.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16636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1" i="0">
                <a:solidFill>
                  <a:srgbClr val="C8102E"/>
                </a:solidFill>
                <a:latin typeface="Segoe UI"/>
              </a:rPr>
              <a:t>1  </a:t>
            </a:r>
            <a:r>
              <a:rPr sz="1120" b="1" i="0">
                <a:solidFill>
                  <a:srgbClr val="11181F"/>
                </a:solidFill>
                <a:latin typeface="Segoe UI"/>
              </a:rPr>
              <a:t>Add ERPNext from the marketplace. </a:t>
            </a:r>
            <a:r>
              <a:rPr sz="1120" b="0" i="0">
                <a:solidFill>
                  <a:srgbClr val="404C59"/>
                </a:solidFill>
                <a:latin typeface="Segoe UI"/>
              </a:rPr>
              <a:t>Add HRMS there too if recruitment is required.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1" i="0">
                <a:solidFill>
                  <a:srgbClr val="C8102E"/>
                </a:solidFill>
                <a:latin typeface="Segoe UI"/>
              </a:rPr>
              <a:t>2  </a:t>
            </a:r>
            <a:r>
              <a:rPr sz="1120" b="1" i="0">
                <a:solidFill>
                  <a:srgbClr val="11181F"/>
                </a:solidFill>
                <a:latin typeface="Segoe UI"/>
              </a:rPr>
              <a:t>Open the Apps tab, </a:t>
            </a:r>
            <a:r>
              <a:rPr sz="1120" b="0" i="0">
                <a:solidFill>
                  <a:srgbClr val="404C59"/>
                </a:solidFill>
                <a:latin typeface="Segoe UI"/>
              </a:rPr>
              <a:t>select Add App, then select Add from GitHub.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1" i="0">
                <a:solidFill>
                  <a:srgbClr val="C8102E"/>
                </a:solidFill>
                <a:latin typeface="Segoe UI"/>
              </a:rPr>
              <a:t>3  </a:t>
            </a:r>
            <a:r>
              <a:rPr sz="1120" b="1" i="0">
                <a:solidFill>
                  <a:srgbClr val="11181F"/>
                </a:solidFill>
                <a:latin typeface="Segoe UI"/>
              </a:rPr>
              <a:t>Choose Private Repository, </a:t>
            </a:r>
            <a:r>
              <a:rPr sz="1120" b="0" i="0">
                <a:solidFill>
                  <a:srgbClr val="404C59"/>
                </a:solidFill>
                <a:latin typeface="Segoe UI"/>
              </a:rPr>
              <a:t>paste the GitHub URL and select Fetch Branches.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1" i="0">
                <a:solidFill>
                  <a:srgbClr val="C8102E"/>
                </a:solidFill>
                <a:latin typeface="Segoe UI"/>
              </a:rPr>
              <a:t>4  </a:t>
            </a:r>
            <a:r>
              <a:rPr sz="1120" b="1" i="0">
                <a:solidFill>
                  <a:srgbClr val="11181F"/>
                </a:solidFill>
                <a:latin typeface="Segoe UI"/>
              </a:rPr>
              <a:t>Select the branch </a:t>
            </a:r>
            <a:r>
              <a:rPr sz="1120" b="0" i="0">
                <a:solidFill>
                  <a:srgbClr val="404C59"/>
                </a:solidFill>
                <a:latin typeface="Segoe UI"/>
              </a:rPr>
              <a:t>shown in the table below, then select Add App.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1" i="0">
                <a:solidFill>
                  <a:srgbClr val="C8102E"/>
                </a:solidFill>
                <a:latin typeface="Segoe UI"/>
              </a:rPr>
              <a:t>5  </a:t>
            </a:r>
            <a:r>
              <a:rPr sz="1120" b="1" i="0">
                <a:solidFill>
                  <a:srgbClr val="11181F"/>
                </a:solidFill>
                <a:latin typeface="Segoe UI"/>
              </a:rPr>
              <a:t>Repeat for each app. </a:t>
            </a:r>
            <a:r>
              <a:rPr sz="1120" b="0" i="0">
                <a:solidFill>
                  <a:srgbClr val="404C59"/>
                </a:solidFill>
                <a:latin typeface="Segoe UI"/>
              </a:rPr>
              <a:t>Add onerc_core before vmmsx. SMS and payments are optional.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2167128"/>
            <a:ext cx="5175504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414016"/>
            <a:ext cx="459028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Apps → Add App → Add from GitHub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The Private Repository tab with a URL pasted and the required branch selected.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4315968"/>
          <a:ext cx="10634472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80"/>
                <a:gridCol w="6126480"/>
                <a:gridCol w="226771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APP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PASTE THIS GITHUB URL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BRANCH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1181F"/>
                          </a:solidFill>
                          <a:latin typeface="Segoe UI"/>
                        </a:rPr>
                        <a:t>onerc_core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404C59"/>
                          </a:solidFill>
                          <a:latin typeface="Consolas"/>
                          <a:hlinkClick r:id="rId2"/>
                        </a:rPr>
                        <a:t>https://github.com/kenyaredcross/onerc_core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404C59"/>
                          </a:solidFill>
                          <a:latin typeface="Consolas"/>
                        </a:rPr>
                        <a:t>vmmsx-edition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1181F"/>
                          </a:solidFill>
                          <a:latin typeface="Segoe UI"/>
                        </a:rPr>
                        <a:t>vmmsx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404C59"/>
                          </a:solidFill>
                          <a:latin typeface="Consolas"/>
                          <a:hlinkClick r:id="rId3"/>
                        </a:rPr>
                        <a:t>https://github.com/kenyaredcross/onerc_vmms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404C59"/>
                          </a:solidFill>
                          <a:latin typeface="Consolas"/>
                        </a:rPr>
                        <a:t>vmmsx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1181F"/>
                          </a:solidFill>
                          <a:latin typeface="Segoe UI"/>
                        </a:rPr>
                        <a:t>onerc_sms (optional)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404C59"/>
                          </a:solidFill>
                          <a:latin typeface="Consolas"/>
                          <a:hlinkClick r:id="rId4"/>
                        </a:rPr>
                        <a:t>https://github.com/kenyaredcross/onerc_sms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404C59"/>
                          </a:solidFill>
                          <a:latin typeface="Consolas"/>
                        </a:rPr>
                        <a:t>vmmsx-edition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9" b="1" i="0">
                          <a:solidFill>
                            <a:srgbClr val="11181F"/>
                          </a:solidFill>
                          <a:latin typeface="Segoe UI"/>
                        </a:rPr>
                        <a:t>onerc_payments (optional)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404C59"/>
                          </a:solidFill>
                          <a:latin typeface="Consolas"/>
                          <a:hlinkClick r:id="rId5"/>
                        </a:rPr>
                        <a:t>https://github.com/kenyaredcross/onerc_payments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0" i="0">
                          <a:solidFill>
                            <a:srgbClr val="404C59"/>
                          </a:solidFill>
                          <a:latin typeface="Consolas"/>
                        </a:rPr>
                        <a:t>vmmsx-edition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2 · ADD THE APPS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Deploy the bench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57984"/>
            <a:ext cx="4434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1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Click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Deploy once every app is on the list.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2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Review the app versions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in the confirmation dialog and confirm.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3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Wait for the build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to finish. It usually takes 5 to 15 minutes, and the log updates live.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4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Check the log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if it fails. Start with the dependency list and access to the private repositories.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029200"/>
            <a:ext cx="4434840" cy="11704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029200"/>
            <a:ext cx="41148" cy="1170432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5230368"/>
            <a:ext cx="386791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THE BUILD COMPILES THE PORTAL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The volunteer portal is a React app built during deployment. A green deployment has already built it. No separate build is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2121408"/>
            <a:ext cx="57881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6168" y="2368296"/>
            <a:ext cx="5202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Frappe Cloud → Deploys → build log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A successful deployment, showing all apps and a green status.
Scroll to the end of the log before capturing.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3 · CREATE THE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Create the site and choose its apps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57984"/>
            <a:ext cx="4434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1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From the bench group choose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New Site.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2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Enter the subdomain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or attach your own domain later.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3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Select the apps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to install: erpnext, onerc_core, vmmsx, plus any optional ones.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4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Create the site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and wait for it to come up.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5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Open the site.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The first sign-in opens the setup wizard.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349240"/>
            <a:ext cx="4434840" cy="90525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349240"/>
            <a:ext cx="41148" cy="905256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5550407"/>
            <a:ext cx="3867911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ORDER MATTERS HERE TOO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Tick onerc_core above vmmsx. Frappe installs the apps in the order shown, and vmmsx needs core's doctypes.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2121408"/>
            <a:ext cx="57881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6168" y="2368296"/>
            <a:ext cx="5202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Frappe Cloud → New Site → app selection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The app checklist with erpnext, onerc_core and vmmsx ticked.
The site name should be visible at the 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On your own 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Same result, from the command line. Skip this slide if you are on Frappe Cloud.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6492240" cy="3310128"/>
          </a:xfrm>
          <a:prstGeom prst="rect">
            <a:avLst/>
          </a:prstGeom>
          <a:solidFill>
            <a:srgbClr val="14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450591"/>
            <a:ext cx="5943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7F92A3"/>
                </a:solidFill>
                <a:latin typeface="Consolas"/>
              </a:rPr>
              <a:t># from the root of a bench running Frappe v16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cd $PATH_TO_YOUR_BENCH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7F92A3"/>
                </a:solidFill>
                <a:latin typeface="Consolas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bench get-app erpnext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bench get-app https://github.com/kenyaredcross/onerc_core \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      --branch vmmsx-edition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bench get-app https://github.com/kenyaredcross/onerc_vmms \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      --branch vmmsx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7F92A3"/>
                </a:solidFill>
                <a:latin typeface="Consolas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bench new-site vmms.yoursociety.org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bench --site vmms.yoursociety.org \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      install-app erpnext onerc_core vmmsx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 i="0">
                <a:solidFill>
                  <a:srgbClr val="7F92A3"/>
                </a:solidFill>
                <a:latin typeface="Consolas"/>
              </a:rPr>
              <a:t>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bench --site vmms.yoursociety.org migrate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bench build --app vmmsx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212848"/>
            <a:ext cx="3867912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150" b="1" i="0">
                <a:solidFill>
                  <a:srgbClr val="11181F"/>
                </a:solidFill>
                <a:latin typeface="Segoe UI"/>
              </a:rPr>
              <a:t>Install core first. </a:t>
            </a:r>
            <a:r>
              <a:rPr sz="1150" b="0" i="0">
                <a:solidFill>
                  <a:srgbClr val="404C59"/>
                </a:solidFill>
                <a:latin typeface="Segoe UI"/>
              </a:rPr>
              <a:t>vmmsx refuses to install without it.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150" b="1" i="0">
                <a:solidFill>
                  <a:srgbClr val="11181F"/>
                </a:solidFill>
                <a:latin typeface="Segoe UI"/>
              </a:rPr>
              <a:t>The folder is renamed. </a:t>
            </a:r>
            <a:r>
              <a:rPr sz="1150" b="0" i="0">
                <a:solidFill>
                  <a:srgbClr val="404C59"/>
                </a:solidFill>
                <a:latin typeface="Segoe UI"/>
              </a:rPr>
              <a:t>The onerc_vmms repo checks out as apps/vmmsx.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150" b="1" i="0">
                <a:solidFill>
                  <a:srgbClr val="11181F"/>
                </a:solidFill>
                <a:latin typeface="Segoe UI"/>
              </a:rPr>
              <a:t>Set host_name </a:t>
            </a:r>
            <a:r>
              <a:rPr sz="1150" b="0" i="0">
                <a:solidFill>
                  <a:srgbClr val="404C59"/>
                </a:solidFill>
                <a:latin typeface="Segoe UI"/>
              </a:rPr>
              <a:t>in the site config. Include the port when the site uses one, or password links may omit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4617720"/>
            <a:ext cx="3867912" cy="905256"/>
          </a:xfrm>
          <a:prstGeom prst="rect">
            <a:avLst/>
          </a:prstGeom>
          <a:solidFill>
            <a:srgbClr val="14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54696" y="4855464"/>
            <a:ext cx="3319272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7F92A3"/>
                </a:solidFill>
                <a:latin typeface="Consolas"/>
              </a:rPr>
              <a:t># sites/&lt;site&gt;/site_config.json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DAE3EA"/>
                </a:solidFill>
                <a:latin typeface="Consolas"/>
              </a:rPr>
              <a:t>"host_name": "http://vmms.yoursociety.org:8000"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5614416"/>
            <a:ext cx="3867912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5614416"/>
            <a:ext cx="41148" cy="640080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4696" y="5815583"/>
            <a:ext cx="3300984" cy="274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OPEN THE SITE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04C59"/>
                </a:solidFill>
                <a:latin typeface="Segoe UI"/>
              </a:rPr>
              <a:t>bench --site &lt;site&gt; browse --user Administrator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4 · THE WIZARD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First run: the setup wizard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57984"/>
            <a:ext cx="4434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1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Open the site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and sign in as Administrator with the password from site creation.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2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Work through Frappe's own slides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first: language, country and time zone, then the currency and company slides ERPNext adds.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3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Complete the two VMMS slides.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The society details come first, followed by geography.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4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Do not skip them.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The wizard is where the society's identity and its geographic ladder are written.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349240"/>
            <a:ext cx="4434840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349240"/>
            <a:ext cx="41148" cy="859536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5550407"/>
            <a:ext cx="3867911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THIS RUNS ONCE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When the wizard finishes, the site opens the VMMS Setup workspace. The wizard does not run again.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2121408"/>
            <a:ext cx="57881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6168" y="2368296"/>
            <a:ext cx="5202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The setup wizard, first slide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Frappe's welcome slide on a fresh site.
Capture before entering anything.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4 · THE WIZARD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Tell us about your National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Organization Name, Short Name and Logo are all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4434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Organization Name: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the full name, for example Tanzania Red Cross Society.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Short Name: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the initials. The wizard proposes them from the name. Edit them if needed.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Logo: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required and stored publicly because it is shown before sign-in, on the portal landing page, in every email and on membership certificates.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956048"/>
            <a:ext cx="4434840" cy="124358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956048"/>
            <a:ext cx="41148" cy="1243584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5157216"/>
            <a:ext cx="3867911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SAVED IN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National Society Settings, a single record owned by onerc_core. Every one of these values can be changed later, and the theme, address and social links live on the same record.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121408"/>
            <a:ext cx="57881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2368296"/>
            <a:ext cx="5202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Wizard → Tell us about your National Society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All three fields filled in, with the logo preview showing.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4 · THE WIZARD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Where does your Society operate?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This is the geographic hierarchy. Build it from the national level down.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9424"/>
            <a:ext cx="4434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1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Name the top level.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Use National, or the term your society uses for the whole country.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2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Add a level for each tier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below it: Region, County, Branch, Unit. As many as you use.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3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Name the levels, not the places.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Nairobi is a place; County is a level.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C8102E"/>
                </a:solidFill>
                <a:latin typeface="Segoe UI"/>
              </a:rPr>
              <a:t>4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Choose the application level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at the bottom of the slide. This is the tier an applicant selects when registering. Usually the lowest.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2212848"/>
            <a:ext cx="578815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2459736"/>
            <a:ext cx="5202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Wizard → Where does your Society operate?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Four levels entered, with the application-level dropdown open.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5138928"/>
            <a:ext cx="5788152" cy="11155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23560" y="5138928"/>
            <a:ext cx="41148" cy="1115568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34456" y="5340096"/>
            <a:ext cx="522122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SAVED BY THE WIZARD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One Geo Level per row, numbered from the top. Every level below the first is marked as requiring a parent, and the last is marked the lowest. You can edit all of it afterwards.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C8102E"/>
                </a:solidFill>
                <a:latin typeface="Segoe UI"/>
              </a:rPr>
              <a:t>PART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24912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Build the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58768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AEBB"/>
                </a:solidFill>
                <a:latin typeface="Segoe UI"/>
              </a:rPr>
              <a:t>The wizard created the levels. Next, add the actual places and assign staff access.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5 · 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The VMMS Setup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57984"/>
            <a:ext cx="4434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The wizard lands here.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It is a checklist of everything a fresh site needs before day one, in dependency order.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Work down it.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Geography first, then settings, then the types and categories, then approval workflows and templates.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Steps tick themselves off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as you save each form, so you can leave and come back.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Find it again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from the Desk sidebar: VMMS Setup.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230368"/>
            <a:ext cx="4434840" cy="1005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230368"/>
            <a:ext cx="41148" cy="1005840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5431536"/>
            <a:ext cx="38679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ONLY THE GEOGRAPHY IS COVERED HERE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Membership types, certifications, time-log categories and approval workflows are society-specific. Set them after the site is 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2121408"/>
            <a:ext cx="57881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6168" y="2368296"/>
            <a:ext cx="5202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Desk → VMMS Setup workspace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The onboarding checklist with the first steps complete.
Capture the whole workspace, sidebar included.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5 · 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Check the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Geo Level is the ladder the wizard just created. Open the list and confirm each rung.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286000"/>
          <a:ext cx="5440679" cy="3090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749039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FIELD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Geo Level Name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What your society calls this tier, such as County, Branch or Unit.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Geo Level Key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The stable internal key. Generated from the name; leave it alone once places exist.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Geo Level Order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1 is the top. Every level below must be a higher number than its parent's.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Requires Parent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On for every level except the top one.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Is Lowest Level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On for the bottom rung only.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1181F"/>
                          </a:solidFill>
                          <a:latin typeface="Segoe UI"/>
                        </a:rPr>
                        <a:t>Is Active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404C59"/>
                          </a:solidFill>
                          <a:latin typeface="Segoe UI"/>
                        </a:rPr>
                        <a:t>Turn off a tier you have stopped using rather than deleting it.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92240" y="2286000"/>
            <a:ext cx="4919472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2532888"/>
            <a:ext cx="433425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Desk → Geo Level list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The full ladder, ordered top to bottom.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5394960"/>
            <a:ext cx="4919472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5394960"/>
            <a:ext cx="41148" cy="859536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5596128"/>
            <a:ext cx="4352544" cy="49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ADDING A TIER LATER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Add the tier first, then re-parent the places under it. Renaming a level is safe; changing its key is not.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5 · 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Add the places: Geo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A Geo Node is an actual location assigned to one Geo Level.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9424"/>
            <a:ext cx="4434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C8102E"/>
                </a:solidFill>
                <a:latin typeface="Segoe UI"/>
              </a:rPr>
              <a:t>1  </a:t>
            </a:r>
            <a:r>
              <a:rPr sz="1230" b="1" i="0">
                <a:solidFill>
                  <a:srgbClr val="11181F"/>
                </a:solidFill>
                <a:latin typeface="Segoe UI"/>
              </a:rPr>
              <a:t>Open Geo Node </a:t>
            </a:r>
            <a:r>
              <a:rPr sz="1230" b="0" i="0">
                <a:solidFill>
                  <a:srgbClr val="404C59"/>
                </a:solidFill>
                <a:latin typeface="Segoe UI"/>
              </a:rPr>
              <a:t>and switch to the tree view.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C8102E"/>
                </a:solidFill>
                <a:latin typeface="Segoe UI"/>
              </a:rPr>
              <a:t>2  </a:t>
            </a:r>
            <a:r>
              <a:rPr sz="1230" b="1" i="0">
                <a:solidFill>
                  <a:srgbClr val="11181F"/>
                </a:solidFill>
                <a:latin typeface="Segoe UI"/>
              </a:rPr>
              <a:t>Create the national node first. </a:t>
            </a:r>
            <a:r>
              <a:rPr sz="1230" b="0" i="0">
                <a:solidFill>
                  <a:srgbClr val="404C59"/>
                </a:solidFill>
                <a:latin typeface="Segoe UI"/>
              </a:rPr>
              <a:t>Use the top level and leave the parent empty.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C8102E"/>
                </a:solidFill>
                <a:latin typeface="Segoe UI"/>
              </a:rPr>
              <a:t>3  </a:t>
            </a:r>
            <a:r>
              <a:rPr sz="1230" b="1" i="0">
                <a:solidFill>
                  <a:srgbClr val="11181F"/>
                </a:solidFill>
                <a:latin typeface="Segoe UI"/>
              </a:rPr>
              <a:t>Add each place under its parent, </a:t>
            </a:r>
            <a:r>
              <a:rPr sz="1230" b="0" i="0">
                <a:solidFill>
                  <a:srgbClr val="404C59"/>
                </a:solidFill>
                <a:latin typeface="Segoe UI"/>
              </a:rPr>
              <a:t>setting its Geo Level as you go.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C8102E"/>
                </a:solidFill>
                <a:latin typeface="Segoe UI"/>
              </a:rPr>
              <a:t>4  </a:t>
            </a:r>
            <a:r>
              <a:rPr sz="1230" b="1" i="0">
                <a:solidFill>
                  <a:srgbClr val="11181F"/>
                </a:solidFill>
                <a:latin typeface="Segoe UI"/>
              </a:rPr>
              <a:t>Add a code </a:t>
            </a:r>
            <a:r>
              <a:rPr sz="1230" b="0" i="0">
                <a:solidFill>
                  <a:srgbClr val="404C59"/>
                </a:solidFill>
                <a:latin typeface="Segoe UI"/>
              </a:rPr>
              <a:t>if your society uses one, and coordinates if you want the node on a map.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C8102E"/>
                </a:solidFill>
                <a:latin typeface="Segoe UI"/>
              </a:rPr>
              <a:t>5  </a:t>
            </a:r>
            <a:r>
              <a:rPr sz="1230" b="1" i="0">
                <a:solidFill>
                  <a:srgbClr val="11181F"/>
                </a:solidFill>
                <a:latin typeface="Segoe UI"/>
              </a:rPr>
              <a:t>Use the import tool </a:t>
            </a:r>
            <a:r>
              <a:rPr sz="1230" b="0" i="0">
                <a:solidFill>
                  <a:srgbClr val="404C59"/>
                </a:solidFill>
                <a:latin typeface="Segoe UI"/>
              </a:rPr>
              <a:t>for a long list: prepare a spreadsheet, and import parents before children.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3560" y="2212848"/>
            <a:ext cx="57881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2459736"/>
            <a:ext cx="5202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Desk → Geo Node → tree view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The tree expanded two levels deep.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4809744"/>
            <a:ext cx="5788152" cy="14447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23560" y="4809744"/>
            <a:ext cx="41148" cy="1444752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34456" y="5010912"/>
            <a:ext cx="522122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THE RULES IT ENFORCES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404C59"/>
                </a:solidFill>
                <a:latin typeface="Segoe UI"/>
              </a:rPr>
              <a:t>Geo Node is a NestedSet with a tree view; records are named GEO-#####.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404C59"/>
                </a:solidFill>
                <a:latin typeface="Segoe UI"/>
              </a:rPr>
              <a:t>A level is required. Below the top, a parent is required and must be on a shallower level.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404C59"/>
                </a:solidFill>
                <a:latin typeface="Segoe UI"/>
              </a:rPr>
              <a:t>Sibling names must be unique under one parent. Coordinates are optional and range-checked.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5 · 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Who sees which part of the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Geo Assignment ties a person to a place. Without one, a coordinator sees nothing.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50292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User: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the staff account.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Role: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the work they are allowed to do at this location.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Geo Node: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the location they can access, including all nodes below it.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Valid From / Valid To: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optional dates for a temporary assignment.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B6C0C9"/>
                </a:solidFill>
                <a:latin typeface="Segoe UI"/>
              </a:rPr>
              <a:t>•   </a:t>
            </a:r>
            <a:r>
              <a:rPr sz="1250" b="1" i="0">
                <a:solidFill>
                  <a:srgbClr val="11181F"/>
                </a:solidFill>
                <a:latin typeface="Segoe UI"/>
              </a:rPr>
              <a:t>Is Active: </a:t>
            </a:r>
            <a:r>
              <a:rPr sz="1250" b="0" i="0">
                <a:solidFill>
                  <a:srgbClr val="404C59"/>
                </a:solidFill>
                <a:latin typeface="Segoe UI"/>
              </a:rPr>
              <a:t>clear this instead of deleting the assignment so the history remains.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285232"/>
            <a:ext cx="5029200" cy="96926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285232"/>
            <a:ext cx="41148" cy="969264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5486400"/>
            <a:ext cx="446227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APPLIES ACROSS THE SITE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Geo Assignment scopes every list on the site. An administrator sees everything; a coordinator without a live assignment sees nothing.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21408"/>
            <a:ext cx="51937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368296"/>
            <a:ext cx="460857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Desk → Geo Assignment → new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One assignment with User, Role and Geo Node filled in.
A populated list view also 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C8102E"/>
                </a:solidFill>
                <a:latin typeface="Segoe UI"/>
              </a:rPr>
              <a:t>PART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24912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Email, then go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58768"/>
            <a:ext cx="7863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AEBB"/>
                </a:solidFill>
                <a:latin typeface="Segoe UI"/>
              </a:rPr>
              <a:t>Registration uses email for the welcome message and password link. Test it before launch.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6 · EMAIL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Set up outgoing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Create one Email Account and mark it as the site's default outgoing account.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9424"/>
            <a:ext cx="4709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C8102E"/>
                </a:solidFill>
                <a:latin typeface="Segoe UI"/>
              </a:rPr>
              <a:t>1  </a:t>
            </a:r>
            <a:r>
              <a:rPr sz="1230" b="1" i="0">
                <a:solidFill>
                  <a:srgbClr val="11181F"/>
                </a:solidFill>
                <a:latin typeface="Segoe UI"/>
              </a:rPr>
              <a:t>Open </a:t>
            </a:r>
            <a:r>
              <a:rPr sz="1230" b="0" i="0">
                <a:solidFill>
                  <a:srgbClr val="404C59"/>
                </a:solidFill>
                <a:latin typeface="Segoe UI"/>
              </a:rPr>
              <a:t>Email Account in the Desk and create a new one.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C8102E"/>
                </a:solidFill>
                <a:latin typeface="Segoe UI"/>
              </a:rPr>
              <a:t>2  </a:t>
            </a:r>
            <a:r>
              <a:rPr sz="1230" b="1" i="0">
                <a:solidFill>
                  <a:srgbClr val="11181F"/>
                </a:solidFill>
                <a:latin typeface="Segoe UI"/>
              </a:rPr>
              <a:t>Enter the sending address, </a:t>
            </a:r>
            <a:r>
              <a:rPr sz="1230" b="0" i="0">
                <a:solidFill>
                  <a:srgbClr val="404C59"/>
                </a:solidFill>
                <a:latin typeface="Segoe UI"/>
              </a:rPr>
              <a:t>such as noreply@yoursociety.org.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C8102E"/>
                </a:solidFill>
                <a:latin typeface="Segoe UI"/>
              </a:rPr>
              <a:t>3  </a:t>
            </a:r>
            <a:r>
              <a:rPr sz="1230" b="1" i="0">
                <a:solidFill>
                  <a:srgbClr val="11181F"/>
                </a:solidFill>
                <a:latin typeface="Segoe UI"/>
              </a:rPr>
              <a:t>Tick Enable Outgoing </a:t>
            </a:r>
            <a:r>
              <a:rPr sz="1230" b="0" i="0">
                <a:solidFill>
                  <a:srgbClr val="404C59"/>
                </a:solidFill>
                <a:latin typeface="Segoe UI"/>
              </a:rPr>
              <a:t>and Default Outgoing.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C8102E"/>
                </a:solidFill>
                <a:latin typeface="Segoe UI"/>
              </a:rPr>
              <a:t>4  </a:t>
            </a:r>
            <a:r>
              <a:rPr sz="1230" b="1" i="0">
                <a:solidFill>
                  <a:srgbClr val="11181F"/>
                </a:solidFill>
                <a:latin typeface="Segoe UI"/>
              </a:rPr>
              <a:t>Fill in the SMTP details: </a:t>
            </a:r>
            <a:r>
              <a:rPr sz="1230" b="0" i="0">
                <a:solidFill>
                  <a:srgbClr val="404C59"/>
                </a:solidFill>
                <a:latin typeface="Segoe UI"/>
              </a:rPr>
              <a:t>host, port, and the password or app password.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C8102E"/>
                </a:solidFill>
                <a:latin typeface="Segoe UI"/>
              </a:rPr>
              <a:t>5  </a:t>
            </a:r>
            <a:r>
              <a:rPr sz="1230" b="1" i="0">
                <a:solidFill>
                  <a:srgbClr val="11181F"/>
                </a:solidFill>
                <a:latin typeface="Segoe UI"/>
              </a:rPr>
              <a:t>Save, then send a test </a:t>
            </a:r>
            <a:r>
              <a:rPr sz="1230" b="0" i="0">
                <a:solidFill>
                  <a:srgbClr val="404C59"/>
                </a:solidFill>
                <a:latin typeface="Segoe UI"/>
              </a:rPr>
              <a:t>with the Send Test Mail button.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7880" y="2212848"/>
            <a:ext cx="55138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2459736"/>
            <a:ext cx="492861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Desk → Email Account → new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The outgoing account with Default Outgoing ticked.
Blank out the password before capturing.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4937760"/>
            <a:ext cx="5513832" cy="13167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4937760"/>
            <a:ext cx="41148" cy="1316736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8776" y="5138928"/>
            <a:ext cx="494690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MESSAGES SENT THROUGH THIS ACCOUNT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The app already installs the welcome email template; this account lets it send the password link.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Every approval, rejection and lifecycle message about an application, with a guardian copied in where the applicant is a minor.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Announcements and direct messages from the console.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STAGE 6 · GO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Verify with a real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C8A97"/>
                </a:solidFill>
                <a:latin typeface="Segoe UI"/>
              </a:rPr>
              <a:t>Do this yourself, once, before anyone else touches the 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83664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9424"/>
            <a:ext cx="4709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C8102E"/>
                </a:solidFill>
                <a:latin typeface="Segoe UI"/>
              </a:rPr>
              <a:t>1  </a:t>
            </a:r>
            <a:r>
              <a:rPr sz="1150" b="1" i="0">
                <a:solidFill>
                  <a:srgbClr val="11181F"/>
                </a:solidFill>
                <a:latin typeface="Segoe UI"/>
              </a:rPr>
              <a:t>Open the portal </a:t>
            </a:r>
            <a:r>
              <a:rPr sz="1150" b="0" i="0">
                <a:solidFill>
                  <a:srgbClr val="404C59"/>
                </a:solidFill>
                <a:latin typeface="Segoe UI"/>
              </a:rPr>
              <a:t>at https://your-site/home while signed out, preferably in a private window.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C8102E"/>
                </a:solidFill>
                <a:latin typeface="Segoe UI"/>
              </a:rPr>
              <a:t>2  </a:t>
            </a:r>
            <a:r>
              <a:rPr sz="1150" b="1" i="0">
                <a:solidFill>
                  <a:srgbClr val="11181F"/>
                </a:solidFill>
                <a:latin typeface="Segoe UI"/>
              </a:rPr>
              <a:t>Choose Join </a:t>
            </a:r>
            <a:r>
              <a:rPr sz="1150" b="0" i="0">
                <a:solidFill>
                  <a:srgbClr val="404C59"/>
                </a:solidFill>
                <a:latin typeface="Segoe UI"/>
              </a:rPr>
              <a:t>and complete the form as a volunteer would, using an address you can read.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C8102E"/>
                </a:solidFill>
                <a:latin typeface="Segoe UI"/>
              </a:rPr>
              <a:t>3  </a:t>
            </a:r>
            <a:r>
              <a:rPr sz="1150" b="1" i="0">
                <a:solidFill>
                  <a:srgbClr val="11181F"/>
                </a:solidFill>
                <a:latin typeface="Segoe UI"/>
              </a:rPr>
              <a:t>Check the inbox. </a:t>
            </a:r>
            <a:r>
              <a:rPr sz="1150" b="0" i="0">
                <a:solidFill>
                  <a:srgbClr val="404C59"/>
                </a:solidFill>
                <a:latin typeface="Segoe UI"/>
              </a:rPr>
              <a:t>The welcome email should arrive within a minute.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C8102E"/>
                </a:solidFill>
                <a:latin typeface="Segoe UI"/>
              </a:rPr>
              <a:t>4  </a:t>
            </a:r>
            <a:r>
              <a:rPr sz="1150" b="1" i="0">
                <a:solidFill>
                  <a:srgbClr val="11181F"/>
                </a:solidFill>
                <a:latin typeface="Segoe UI"/>
              </a:rPr>
              <a:t>Follow the link, </a:t>
            </a:r>
            <a:r>
              <a:rPr sz="1150" b="0" i="0">
                <a:solidFill>
                  <a:srgbClr val="404C59"/>
                </a:solidFill>
                <a:latin typeface="Segoe UI"/>
              </a:rPr>
              <a:t>set a password, and confirm it lands in the portal rather than on a desk.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C8102E"/>
                </a:solidFill>
                <a:latin typeface="Segoe UI"/>
              </a:rPr>
              <a:t>5  </a:t>
            </a:r>
            <a:r>
              <a:rPr sz="1150" b="1" i="0">
                <a:solidFill>
                  <a:srgbClr val="11181F"/>
                </a:solidFill>
                <a:latin typeface="Segoe UI"/>
              </a:rPr>
              <a:t>Check the console: </a:t>
            </a:r>
            <a:r>
              <a:rPr sz="1150" b="0" i="0">
                <a:solidFill>
                  <a:srgbClr val="404C59"/>
                </a:solidFill>
                <a:latin typeface="Segoe UI"/>
              </a:rPr>
              <a:t>the application should be sitting in the review queue.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C8102E"/>
                </a:solidFill>
                <a:latin typeface="Segoe UI"/>
              </a:rPr>
              <a:t>6  </a:t>
            </a:r>
            <a:r>
              <a:rPr sz="1150" b="1" i="0">
                <a:solidFill>
                  <a:srgbClr val="11181F"/>
                </a:solidFill>
                <a:latin typeface="Segoe UI"/>
              </a:rPr>
              <a:t>Keep /verify public. </a:t>
            </a:r>
            <a:r>
              <a:rPr sz="1150" b="0" i="0">
                <a:solidFill>
                  <a:srgbClr val="404C59"/>
                </a:solidFill>
                <a:latin typeface="Segoe UI"/>
              </a:rPr>
              <a:t>It is the card-check page used when somebody scans a VMMS card.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7880" y="2212848"/>
            <a:ext cx="551383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A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2459736"/>
            <a:ext cx="492861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50" b="1" i="0" spc="140">
                <a:solidFill>
                  <a:srgbClr val="C8102E"/>
                </a:solidFill>
                <a:latin typeface="Segoe UI"/>
              </a:rPr>
              <a:t>CAPTURE FROM YOUR SITE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181F"/>
                </a:solidFill>
                <a:latin typeface="Segoe UI"/>
              </a:rPr>
              <a:t>The portal landing page and the Join form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7"/>
                </a:solidFill>
                <a:latin typeface="Segoe UI"/>
              </a:rPr>
              <a:t>Two screenshots side by side if you have room:
the public landing page, and the welcome email.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5120640"/>
            <a:ext cx="5513832" cy="113385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5120640"/>
            <a:ext cx="41148" cy="1133856"/>
          </a:xfrm>
          <a:prstGeom prst="rect">
            <a:avLst/>
          </a:prstGeom>
          <a:solidFill>
            <a:srgbClr val="7C8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8776" y="5321807"/>
            <a:ext cx="4946904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 spc="120">
                <a:solidFill>
                  <a:srgbClr val="7C8A97"/>
                </a:solidFill>
                <a:latin typeface="Segoe UI"/>
              </a:rPr>
              <a:t>IF THE EMAIL NEVER ARRIVES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C59"/>
                </a:solidFill>
                <a:latin typeface="Segoe UI"/>
              </a:rPr>
              <a:t>Check Email Queue in the Desk. A row stuck at Not Sent is an SMTP problem; no row at all means no default outgoing account.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0350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8102E"/>
                </a:solidFill>
                <a:latin typeface="Segoe UI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96112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1181F"/>
                </a:solidFill>
                <a:latin typeface="Segoe UI"/>
              </a:rPr>
              <a:t>If something goes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72768"/>
            <a:ext cx="10637215" cy="10972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139696"/>
          <a:ext cx="10634472" cy="4059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3566160"/>
                <a:gridCol w="341071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WHAT YOU SEE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 spc="100">
                          <a:solidFill>
                            <a:srgbClr val="FFFFFF"/>
                          </a:solidFill>
                          <a:latin typeface="Segoe UI"/>
                        </a:rPr>
                        <a:t>WHAT TO DO</a:t>
                      </a:r>
                    </a:p>
                  </a:txBody>
                  <a:tcPr marL="128016" marR="91440" marT="45720" marB="45720" anchor="ctr">
                    <a:solidFill>
                      <a:srgbClr val="11181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1181F"/>
                          </a:solidFill>
                          <a:latin typeface="Segoe UI"/>
                        </a:rPr>
                        <a:t>The repository is not listed on Frappe Cloud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The GitHub app cannot read a private repo.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Grant it access in GitHub → Settings → Applications.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1181F"/>
                          </a:solidFill>
                          <a:latin typeface="Segoe UI"/>
                        </a:rPr>
                        <a:t>Installation fails on vmmsx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onerc_core is not installed yet.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Install core first, then vmmsx, then run migrate.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1181F"/>
                          </a:solidFill>
                          <a:latin typeface="Segoe UI"/>
                        </a:rPr>
                        <a:t>"Add at least one geographic level"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The wizard's geography slide was submitted empty.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Go back a slide and name at least the top level.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1181F"/>
                          </a:solidFill>
                          <a:latin typeface="Segoe UI"/>
                        </a:rPr>
                        <a:t>Password links open a page that will not load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The site does not know its own address.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Set host_name in the site config. On Frappe Cloud this is set for you.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1181F"/>
                          </a:solidFill>
                          <a:latin typeface="Segoe UI"/>
                        </a:rPr>
                        <a:t>"Geo Node GEO-00000 does not exist"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A node was deleted while records still pointed at it.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Recreate it, or re-point the records, then delete properly.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1181F"/>
                          </a:solidFill>
                          <a:latin typeface="Segoe UI"/>
                        </a:rPr>
                        <a:t>A coordinator sees an empty list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No Geo Assignment, or an inactive one.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Give them an assignment on the right node.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11181F"/>
                          </a:solidFill>
                          <a:latin typeface="Segoe UI"/>
                        </a:rPr>
                        <a:t>No email arrives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No default outgoing account, or SMTP is refusing.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404C59"/>
                          </a:solidFill>
                          <a:latin typeface="Segoe UI"/>
                        </a:rPr>
                        <a:t>Check Email Account and Email Queue.</a:t>
                      </a:r>
                    </a:p>
                  </a:txBody>
                  <a:tcPr marL="128016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6C0C9"/>
                </a:solidFill>
                <a:latin typeface="Segoe UI"/>
              </a:rPr>
              <a:t>VMMS · Installation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4593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6C0C9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spc="200">
                <a:solidFill>
                  <a:srgbClr val="C8102E"/>
                </a:solidFill>
                <a:latin typeface="Segoe U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0700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Repositories and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vmmsx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203703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9DAB"/>
                </a:solidFill>
                <a:latin typeface="Segoe UI"/>
              </a:rPr>
              <a:t>The application. Branch: vmmsx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203703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  <a:hlinkClick r:id="rId2"/>
              </a:rPr>
              <a:t>github.com/kenyaredcross/onerc_vmms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560320"/>
            <a:ext cx="10058400" cy="7315"/>
          </a:xfrm>
          <a:prstGeom prst="rect">
            <a:avLst/>
          </a:prstGeom>
          <a:solidFill>
            <a:srgbClr val="26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72491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onerc_core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73405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9DAB"/>
                </a:solidFill>
                <a:latin typeface="Segoe UI"/>
              </a:rPr>
              <a:t>Geography and society settings. Branch: vmmsx-edition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73405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  <a:hlinkClick r:id="rId3"/>
              </a:rPr>
              <a:t>github.com/kenyaredcross/onerc_core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090672"/>
            <a:ext cx="10058400" cy="7315"/>
          </a:xfrm>
          <a:prstGeom prst="rect">
            <a:avLst/>
          </a:prstGeom>
          <a:solidFill>
            <a:srgbClr val="26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25526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onerc_sms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26440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9DAB"/>
                </a:solidFill>
                <a:latin typeface="Segoe UI"/>
              </a:rPr>
              <a:t>Optional. SMS and WhatsApp. Branch: vmmsx-edition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6440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  <a:hlinkClick r:id="rId4"/>
              </a:rPr>
              <a:t>github.com/kenyaredcross/onerc_sms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621024"/>
            <a:ext cx="10058400" cy="7315"/>
          </a:xfrm>
          <a:prstGeom prst="rect">
            <a:avLst/>
          </a:prstGeom>
          <a:solidFill>
            <a:srgbClr val="26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785615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onerc_payments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794759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9DAB"/>
                </a:solidFill>
                <a:latin typeface="Segoe UI"/>
              </a:rPr>
              <a:t>Optional. Stipends. Branch: vmmsx-edition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794759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  <a:hlinkClick r:id="rId5"/>
              </a:rPr>
              <a:t>github.com/kenyaredcross/onerc_payments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151376"/>
            <a:ext cx="10058400" cy="7315"/>
          </a:xfrm>
          <a:prstGeom prst="rect">
            <a:avLst/>
          </a:prstGeom>
          <a:solidFill>
            <a:srgbClr val="26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31596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Frappe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32511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9DAB"/>
                </a:solidFill>
                <a:latin typeface="Segoe UI"/>
              </a:rPr>
              <a:t>Hosting, bench groups and deployments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32511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  <a:hlinkClick r:id="rId6"/>
              </a:rPr>
              <a:t>frappecloud.com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681728"/>
            <a:ext cx="10058400" cy="7315"/>
          </a:xfrm>
          <a:prstGeom prst="rect">
            <a:avLst/>
          </a:prstGeom>
          <a:solidFill>
            <a:srgbClr val="26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8463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Frappe Cloud 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485546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9DAB"/>
                </a:solidFill>
                <a:latin typeface="Segoe UI"/>
              </a:rPr>
              <a:t>Bench groups, sites, domains and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85546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  <a:hlinkClick r:id="rId7"/>
              </a:rPr>
              <a:t>docs.frappe.io/cloud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5212080"/>
            <a:ext cx="10058400" cy="7315"/>
          </a:xfrm>
          <a:prstGeom prst="rect">
            <a:avLst/>
          </a:prstGeom>
          <a:solidFill>
            <a:srgbClr val="26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37667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bench CLI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538581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9DAB"/>
                </a:solidFill>
                <a:latin typeface="Segoe UI"/>
              </a:rPr>
              <a:t>Self-hosted installs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38581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  <a:hlinkClick r:id="rId8"/>
              </a:rPr>
              <a:t>github.com/frappe/bench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5742432"/>
            <a:ext cx="10058400" cy="7315"/>
          </a:xfrm>
          <a:prstGeom prst="rect">
            <a:avLst/>
          </a:prstGeom>
          <a:solidFill>
            <a:srgbClr val="263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61447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C8A97"/>
                </a:solidFill>
                <a:latin typeface="Segoe UI"/>
              </a:rPr>
              <a:t>Replace every screenshot placeholder with a capture from your own site before handing this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